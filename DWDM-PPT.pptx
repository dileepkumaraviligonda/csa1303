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4" r:id="rId5"/>
    <p:sldId id="270" r:id="rId6"/>
    <p:sldId id="271" r:id="rId7"/>
    <p:sldId id="259" r:id="rId8"/>
    <p:sldId id="267" r:id="rId9"/>
    <p:sldId id="266" r:id="rId10"/>
    <p:sldId id="268" r:id="rId11"/>
    <p:sldId id="260" r:id="rId12"/>
    <p:sldId id="265" r:id="rId13"/>
    <p:sldId id="263" r:id="rId14"/>
    <p:sldId id="262" r:id="rId15"/>
    <p:sldId id="269" r:id="rId1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0F02D3-083F-48D3-9D3E-4F61B1193FA5}" v="1" dt="2026-08-12T06:11:35.55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ggupati Deepak" userId="1aa23bf9a589999d" providerId="LiveId" clId="{4B84E584-2FC2-413F-939E-08FF767E340E}"/>
    <pc:docChg chg="addSld delSld modSld">
      <pc:chgData name="Daggupati Deepak" userId="1aa23bf9a589999d" providerId="LiveId" clId="{4B84E584-2FC2-413F-939E-08FF767E340E}" dt="2026-08-26T15:16:18.143" v="2" actId="1076"/>
      <pc:docMkLst>
        <pc:docMk/>
      </pc:docMkLst>
      <pc:sldChg chg="modSp mod">
        <pc:chgData name="Daggupati Deepak" userId="1aa23bf9a589999d" providerId="LiveId" clId="{4B84E584-2FC2-413F-939E-08FF767E340E}" dt="2026-08-26T15:16:18.143" v="2" actId="1076"/>
        <pc:sldMkLst>
          <pc:docMk/>
          <pc:sldMk cId="0" sldId="256"/>
        </pc:sldMkLst>
        <pc:picChg chg="mod">
          <ac:chgData name="Daggupati Deepak" userId="1aa23bf9a589999d" providerId="LiveId" clId="{4B84E584-2FC2-413F-939E-08FF767E340E}" dt="2026-08-26T15:16:18.143" v="2" actId="1076"/>
          <ac:picMkLst>
            <pc:docMk/>
            <pc:sldMk cId="0" sldId="256"/>
            <ac:picMk id="5" creationId="{00000000-0000-0000-0000-000000000000}"/>
          </ac:picMkLst>
        </pc:picChg>
      </pc:sldChg>
      <pc:sldChg chg="add">
        <pc:chgData name="Daggupati Deepak" userId="1aa23bf9a589999d" providerId="LiveId" clId="{4B84E584-2FC2-413F-939E-08FF767E340E}" dt="2026-08-12T06:11:35.548" v="0"/>
        <pc:sldMkLst>
          <pc:docMk/>
          <pc:sldMk cId="3452290548" sldId="26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18029" y="461899"/>
            <a:ext cx="7155941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8340" y="1509941"/>
            <a:ext cx="6337300" cy="17824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ransition spd="slow">
    <p:push dir="u"/>
  </p:transition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2431" y="1810353"/>
            <a:ext cx="10787138" cy="112146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3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Stock Market Analytics Through Efficient Data Warehousing and Predictive Models</a:t>
            </a:r>
            <a:endParaRPr sz="36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4987" y="4255405"/>
            <a:ext cx="4104457" cy="11515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Supervision of</a:t>
            </a:r>
          </a:p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.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V.Kanimozhi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222396"/>
            <a:ext cx="1520062" cy="13428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C58F2C-219E-CD33-5929-435B5AFE4948}"/>
              </a:ext>
            </a:extLst>
          </p:cNvPr>
          <p:cNvSpPr txBox="1"/>
          <p:nvPr/>
        </p:nvSpPr>
        <p:spPr>
          <a:xfrm>
            <a:off x="7184014" y="4255405"/>
            <a:ext cx="485025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by:-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A.Dileep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kumar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(192372074)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D.Deepak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(192572095)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8AEC92-C4EE-10C2-E457-6B625FACFD80}"/>
              </a:ext>
            </a:extLst>
          </p:cNvPr>
          <p:cNvSpPr txBox="1"/>
          <p:nvPr/>
        </p:nvSpPr>
        <p:spPr>
          <a:xfrm>
            <a:off x="2927648" y="3376702"/>
            <a:ext cx="59766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CSA1610-Data Warehousing and Data mining</a:t>
            </a:r>
          </a:p>
        </p:txBody>
      </p:sp>
      <p:pic>
        <p:nvPicPr>
          <p:cNvPr id="8" name="Picture 7" descr="Saveetha Institute of Medical and Technical Sciences Engineering Fests,  Symposiums in Chennai from August 2026 Technical, Cultural, Management,  Sports, Conferences, Seminars">
            <a:extLst>
              <a:ext uri="{FF2B5EF4-FFF2-40B4-BE49-F238E27FC236}">
                <a16:creationId xmlns:a16="http://schemas.microsoft.com/office/drawing/2014/main" id="{A6FE5238-F38F-7F01-0FDF-224B016AD2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7560" y="331157"/>
            <a:ext cx="7620016" cy="981458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277211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C4D32E-12C1-450F-B753-EFC414ECB69A}"/>
              </a:ext>
            </a:extLst>
          </p:cNvPr>
          <p:cNvSpPr txBox="1"/>
          <p:nvPr/>
        </p:nvSpPr>
        <p:spPr>
          <a:xfrm>
            <a:off x="4267200" y="533400"/>
            <a:ext cx="437756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52F63E-7656-8C84-E050-1D1F890C696D}"/>
              </a:ext>
            </a:extLst>
          </p:cNvPr>
          <p:cNvSpPr txBox="1"/>
          <p:nvPr/>
        </p:nvSpPr>
        <p:spPr>
          <a:xfrm>
            <a:off x="1199456" y="2132856"/>
            <a:ext cx="8230063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stock data helps investors make quick decisions.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warehousing stores large volumes of market data efficiently.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systems support better risk management and alerts.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models analyze patterns to forecast stock price movements.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Combining real-time data and prediction improves trading accuracy.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000" b="0" i="0" dirty="0">
              <a:solidFill>
                <a:srgbClr val="0D0D0D"/>
              </a:solidFill>
              <a:effectLst/>
              <a:latin typeface="ui-sans-serif"/>
            </a:endParaRPr>
          </a:p>
        </p:txBody>
      </p:sp>
    </p:spTree>
    <p:extLst>
      <p:ext uri="{BB962C8B-B14F-4D97-AF65-F5344CB8AC3E}">
        <p14:creationId xmlns:p14="http://schemas.microsoft.com/office/powerpoint/2010/main" val="329447398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88640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1F4DF16-5FF5-4520-87FA-86CD34012010}"/>
              </a:ext>
            </a:extLst>
          </p:cNvPr>
          <p:cNvSpPr txBox="1"/>
          <p:nvPr/>
        </p:nvSpPr>
        <p:spPr>
          <a:xfrm>
            <a:off x="4572000" y="424375"/>
            <a:ext cx="47244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  <a:b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EA5F3D-E221-4851-B42C-B1743FC0DD2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79" t="17778" r="9259" b="6188"/>
          <a:stretch/>
        </p:blipFill>
        <p:spPr>
          <a:xfrm>
            <a:off x="6669165" y="1700808"/>
            <a:ext cx="5254470" cy="41987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EF0573-F48D-E0A9-16D9-38BCE0181EAF}"/>
              </a:ext>
            </a:extLst>
          </p:cNvPr>
          <p:cNvSpPr txBox="1"/>
          <p:nvPr/>
        </p:nvSpPr>
        <p:spPr>
          <a:xfrm>
            <a:off x="263353" y="1870925"/>
            <a:ext cx="6408712" cy="3730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design an efficient data warehousing system for storing and managing large volumes of stock market data.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enable real-time processing and retrieval of stock market information.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predictive models that can accurately forecast stock price movements and market trends.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real-time data streams with predictive analytics for faster decision-making.</a:t>
            </a:r>
            <a:endParaRPr lang="en-US" sz="20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338160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FF51FB5-ECE9-4BDB-8323-C9142AF742BE}"/>
              </a:ext>
            </a:extLst>
          </p:cNvPr>
          <p:cNvSpPr txBox="1"/>
          <p:nvPr/>
        </p:nvSpPr>
        <p:spPr>
          <a:xfrm>
            <a:off x="457200" y="2132856"/>
            <a:ext cx="11577065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batch-processing systems are too slow for real-time trading environments.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warehousing provides centralized storage for structured and historical market data.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OLAP and distributed storage systems improve the speed of querying and analysis.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like ARIMA, SVM, Random Forest, and LSTM are commonly applied in financial prediction research.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 help capture nonlinear and complex stock market behavior.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Recent research focuses on improving system performance, reducing latency, and increasing prediction accuracy.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782954-3CB0-487F-AB55-232E0B80757D}"/>
              </a:ext>
            </a:extLst>
          </p:cNvPr>
          <p:cNvSpPr txBox="1"/>
          <p:nvPr/>
        </p:nvSpPr>
        <p:spPr>
          <a:xfrm>
            <a:off x="2051964" y="620688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Review/Background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2290548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0D2F9-CE62-1473-D96C-F28CD41B6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520" y="616869"/>
            <a:ext cx="8640960" cy="492443"/>
          </a:xfrm>
        </p:spPr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Real-Time Stock Data Warehousing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2107EE-4A06-951E-FF18-253236BAA8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400" y="1916832"/>
            <a:ext cx="11233248" cy="2569934"/>
          </a:xfrm>
        </p:spPr>
        <p:txBody>
          <a:bodyPr/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stock prices, trading volume, market trends, and historical data from different sources.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and organizes the data efficiently in a data warehouse.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data cleaning and transformation to remove duplicate or inconsistent records.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fast querying and analysis of large amounts of stock-market data.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updated data for real-time dashboards and further prediction.</a:t>
            </a:r>
          </a:p>
          <a:p>
            <a:endParaRPr lang="en-IN" dirty="0"/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1B42B54B-21F2-1B5E-6174-407DADEC1B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8CA87C8F-E584-BE13-6562-839E5085126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860200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47916-2DDD-A90F-2B52-A35663340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512" y="525056"/>
            <a:ext cx="9073008" cy="984885"/>
          </a:xfrm>
        </p:spPr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Stock Trend Prediction and Analytics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DEB7B8-D8E3-5D39-AC55-2AE9B3FFC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9143" y="2120949"/>
            <a:ext cx="10048722" cy="2616101"/>
          </a:xfrm>
        </p:spPr>
        <p:txBody>
          <a:bodyPr/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historical and real-time stock data to identify market patterns.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predictive models to forecast possible stock price movements and trends.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insights such as rising, falling, or stable market trends.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investors and analysts make data-driven decisions.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predictions and analytics through charts and dashboards.</a:t>
            </a:r>
          </a:p>
          <a:p>
            <a:endParaRPr lang="en-IN" sz="2000" dirty="0"/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045DC28A-A5CD-07C0-DA9E-2FE0BD20744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16E24752-A39D-574C-6A46-98EBAC1F132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310525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C4E4EC5-7C36-4368-9884-9864798E1968}"/>
              </a:ext>
            </a:extLst>
          </p:cNvPr>
          <p:cNvSpPr txBox="1"/>
          <p:nvPr/>
        </p:nvSpPr>
        <p:spPr>
          <a:xfrm>
            <a:off x="152400" y="1534541"/>
            <a:ext cx="5440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A1FADB-8B1E-4B3C-B563-F38455A5A924}"/>
              </a:ext>
            </a:extLst>
          </p:cNvPr>
          <p:cNvSpPr txBox="1"/>
          <p:nvPr/>
        </p:nvSpPr>
        <p:spPr>
          <a:xfrm>
            <a:off x="3924300" y="478370"/>
            <a:ext cx="5257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Generated image">
            <a:extLst>
              <a:ext uri="{FF2B5EF4-FFF2-40B4-BE49-F238E27FC236}">
                <a16:creationId xmlns:a16="http://schemas.microsoft.com/office/drawing/2014/main" id="{6EB51233-D751-4FF5-9DC4-0149003BEA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00"/>
          <a:stretch/>
        </p:blipFill>
        <p:spPr bwMode="auto">
          <a:xfrm>
            <a:off x="6617090" y="1510231"/>
            <a:ext cx="5440680" cy="5156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35CDA1-AE57-AA59-15F6-8BBB6844C9F9}"/>
              </a:ext>
            </a:extLst>
          </p:cNvPr>
          <p:cNvSpPr txBox="1"/>
          <p:nvPr/>
        </p:nvSpPr>
        <p:spPr>
          <a:xfrm>
            <a:off x="263352" y="1700808"/>
            <a:ext cx="6353738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 a structured data warehouse to store both historical and real-time data.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real-time data streaming tools for continuous market data ingestion.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real-time analytics system that processes data as it arrives.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monitor system performance and update models when needed.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live data and predictions using a dashboard for easy monitoring.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0D0D0D"/>
              </a:solidFill>
              <a:effectLst/>
              <a:latin typeface="ui-sans-serif"/>
            </a:endParaRPr>
          </a:p>
        </p:txBody>
      </p:sp>
    </p:spTree>
    <p:extLst>
      <p:ext uri="{BB962C8B-B14F-4D97-AF65-F5344CB8AC3E}">
        <p14:creationId xmlns:p14="http://schemas.microsoft.com/office/powerpoint/2010/main" val="4253637918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DFE44D4-ED49-4A25-971D-AC70F15C495A}"/>
              </a:ext>
            </a:extLst>
          </p:cNvPr>
          <p:cNvSpPr txBox="1"/>
          <p:nvPr/>
        </p:nvSpPr>
        <p:spPr>
          <a:xfrm>
            <a:off x="2400300" y="228541"/>
            <a:ext cx="7391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Design/Architecture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1A1B4F-346B-452A-B73B-EDA8506F199D}"/>
              </a:ext>
            </a:extLst>
          </p:cNvPr>
          <p:cNvSpPr txBox="1"/>
          <p:nvPr/>
        </p:nvSpPr>
        <p:spPr>
          <a:xfrm>
            <a:off x="357352" y="1550952"/>
            <a:ext cx="7682864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 Used:</a:t>
            </a:r>
          </a:p>
          <a:p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Shiny.</a:t>
            </a:r>
          </a:p>
          <a:p>
            <a:pPr algn="l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Programming Language.</a:t>
            </a:r>
          </a:p>
          <a:p>
            <a:pPr algn="l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or PostgreSQL.</a:t>
            </a:r>
          </a:p>
          <a:p>
            <a:pPr algn="l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or Linux.</a:t>
            </a:r>
          </a:p>
          <a:p>
            <a:pPr algn="l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ggplot2, plotly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Architecture:</a:t>
            </a:r>
          </a:p>
          <a:p>
            <a:endParaRPr 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Ingestion Layer: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Quandl API, WebSocket API.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Storage Layer: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or PostgreSQL database.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 Layer: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Programming Language.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Layer: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Shiny, ggplot2, plotly.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Layer: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Shiny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pic>
        <p:nvPicPr>
          <p:cNvPr id="3074" name="Picture 2" descr="Generated image">
            <a:extLst>
              <a:ext uri="{FF2B5EF4-FFF2-40B4-BE49-F238E27FC236}">
                <a16:creationId xmlns:a16="http://schemas.microsoft.com/office/drawing/2014/main" id="{D938884F-B244-4E98-ADF8-6C5DFB5162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949"/>
          <a:stretch/>
        </p:blipFill>
        <p:spPr bwMode="auto">
          <a:xfrm>
            <a:off x="6242863" y="1785666"/>
            <a:ext cx="5760922" cy="3286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0738055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8B4B9DA-BCEC-409B-BB99-CFF4E26E4990}"/>
              </a:ext>
            </a:extLst>
          </p:cNvPr>
          <p:cNvSpPr txBox="1"/>
          <p:nvPr/>
        </p:nvSpPr>
        <p:spPr>
          <a:xfrm>
            <a:off x="3671443" y="478370"/>
            <a:ext cx="6858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03E9E1-B2B1-46CD-BCD9-DBDD435C74E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44" t="6975" r="4074" b="15556"/>
          <a:stretch/>
        </p:blipFill>
        <p:spPr>
          <a:xfrm>
            <a:off x="1379869" y="1412776"/>
            <a:ext cx="9432261" cy="5161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540235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A5DE000-2078-4445-85D0-A3FB23ABDB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9950330"/>
              </p:ext>
            </p:extLst>
          </p:nvPr>
        </p:nvGraphicFramePr>
        <p:xfrm>
          <a:off x="407368" y="4190995"/>
          <a:ext cx="5522948" cy="247536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80737">
                  <a:extLst>
                    <a:ext uri="{9D8B030D-6E8A-4147-A177-3AD203B41FA5}">
                      <a16:colId xmlns:a16="http://schemas.microsoft.com/office/drawing/2014/main" val="819280544"/>
                    </a:ext>
                  </a:extLst>
                </a:gridCol>
                <a:gridCol w="1380737">
                  <a:extLst>
                    <a:ext uri="{9D8B030D-6E8A-4147-A177-3AD203B41FA5}">
                      <a16:colId xmlns:a16="http://schemas.microsoft.com/office/drawing/2014/main" val="3612970856"/>
                    </a:ext>
                  </a:extLst>
                </a:gridCol>
                <a:gridCol w="1380737">
                  <a:extLst>
                    <a:ext uri="{9D8B030D-6E8A-4147-A177-3AD203B41FA5}">
                      <a16:colId xmlns:a16="http://schemas.microsoft.com/office/drawing/2014/main" val="1981165083"/>
                    </a:ext>
                  </a:extLst>
                </a:gridCol>
                <a:gridCol w="1380737">
                  <a:extLst>
                    <a:ext uri="{9D8B030D-6E8A-4147-A177-3AD203B41FA5}">
                      <a16:colId xmlns:a16="http://schemas.microsoft.com/office/drawing/2014/main" val="4046000338"/>
                    </a:ext>
                  </a:extLst>
                </a:gridCol>
              </a:tblGrid>
              <a:tr h="258642">
                <a:tc>
                  <a:txBody>
                    <a:bodyPr/>
                    <a:lstStyle/>
                    <a:p>
                      <a:r>
                        <a:rPr lang="en-IN" sz="900" dirty="0"/>
                        <a:t>Feature</a:t>
                      </a:r>
                    </a:p>
                  </a:txBody>
                  <a:tcPr marL="45712" marR="45712" marT="22856" marB="228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Our Solution</a:t>
                      </a:r>
                    </a:p>
                  </a:txBody>
                  <a:tcPr marL="45712" marR="45712" marT="22856" marB="228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Sol. 1</a:t>
                      </a:r>
                    </a:p>
                  </a:txBody>
                  <a:tcPr marL="45712" marR="45712" marT="22856" marB="228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900" dirty="0"/>
                        <a:t>Sol. 2</a:t>
                      </a:r>
                    </a:p>
                  </a:txBody>
                  <a:tcPr marL="45712" marR="45712" marT="22856" marB="228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06687198"/>
                  </a:ext>
                </a:extLst>
              </a:tr>
              <a:tr h="258642">
                <a:tc>
                  <a:txBody>
                    <a:bodyPr/>
                    <a:lstStyle/>
                    <a:p>
                      <a:r>
                        <a:rPr lang="en-IN" sz="900" dirty="0"/>
                        <a:t>Accuracy</a:t>
                      </a:r>
                    </a:p>
                  </a:txBody>
                  <a:tcPr marL="45712" marR="45712" marT="22856" marB="228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85%</a:t>
                      </a:r>
                    </a:p>
                  </a:txBody>
                  <a:tcPr marL="45712" marR="45712" marT="22856" marB="228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75%</a:t>
                      </a:r>
                    </a:p>
                  </a:txBody>
                  <a:tcPr marL="45712" marR="45712" marT="22856" marB="228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80%</a:t>
                      </a:r>
                    </a:p>
                  </a:txBody>
                  <a:tcPr marL="45712" marR="45712" marT="22856" marB="228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36714350"/>
                  </a:ext>
                </a:extLst>
              </a:tr>
              <a:tr h="406226">
                <a:tc>
                  <a:txBody>
                    <a:bodyPr/>
                    <a:lstStyle/>
                    <a:p>
                      <a:r>
                        <a:rPr lang="en-IN" sz="900" dirty="0"/>
                        <a:t>Real-time Data</a:t>
                      </a:r>
                    </a:p>
                  </a:txBody>
                  <a:tcPr marL="45712" marR="45712" marT="22856" marB="228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900" dirty="0"/>
                        <a:t>✅ Yes</a:t>
                      </a:r>
                    </a:p>
                  </a:txBody>
                  <a:tcPr marL="45712" marR="45712" marT="22856" marB="228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900" dirty="0"/>
                        <a:t>❌ No</a:t>
                      </a:r>
                    </a:p>
                  </a:txBody>
                  <a:tcPr marL="45712" marR="45712" marT="22856" marB="228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✅ Yes</a:t>
                      </a:r>
                    </a:p>
                  </a:txBody>
                  <a:tcPr marL="45712" marR="45712" marT="22856" marB="228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94861614"/>
                  </a:ext>
                </a:extLst>
              </a:tr>
              <a:tr h="258642">
                <a:tc>
                  <a:txBody>
                    <a:bodyPr/>
                    <a:lstStyle/>
                    <a:p>
                      <a:r>
                        <a:rPr lang="en-IN" sz="900" dirty="0"/>
                        <a:t>Visualization</a:t>
                      </a:r>
                    </a:p>
                  </a:txBody>
                  <a:tcPr marL="45712" marR="45712" marT="22856" marB="228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900" dirty="0"/>
                        <a:t>✅ Yes</a:t>
                      </a:r>
                    </a:p>
                  </a:txBody>
                  <a:tcPr marL="45712" marR="45712" marT="22856" marB="228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❌ No</a:t>
                      </a:r>
                    </a:p>
                  </a:txBody>
                  <a:tcPr marL="45712" marR="45712" marT="22856" marB="228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900" dirty="0"/>
                        <a:t>⚠️ Limited</a:t>
                      </a:r>
                    </a:p>
                  </a:txBody>
                  <a:tcPr marL="45712" marR="45712" marT="22856" marB="228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4404898"/>
                  </a:ext>
                </a:extLst>
              </a:tr>
              <a:tr h="258642">
                <a:tc>
                  <a:txBody>
                    <a:bodyPr/>
                    <a:lstStyle/>
                    <a:p>
                      <a:r>
                        <a:rPr lang="en-IN" sz="900"/>
                        <a:t>Scalability</a:t>
                      </a:r>
                    </a:p>
                  </a:txBody>
                  <a:tcPr marL="45712" marR="45712" marT="22856" marB="228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900" dirty="0"/>
                        <a:t>🔼 High</a:t>
                      </a:r>
                    </a:p>
                  </a:txBody>
                  <a:tcPr marL="45712" marR="45712" marT="22856" marB="228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◼ Medium</a:t>
                      </a:r>
                    </a:p>
                  </a:txBody>
                  <a:tcPr marL="45712" marR="45712" marT="22856" marB="228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🔽 Low</a:t>
                      </a:r>
                    </a:p>
                  </a:txBody>
                  <a:tcPr marL="45712" marR="45712" marT="22856" marB="228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7230198"/>
                  </a:ext>
                </a:extLst>
              </a:tr>
              <a:tr h="258642">
                <a:tc>
                  <a:txBody>
                    <a:bodyPr/>
                    <a:lstStyle/>
                    <a:p>
                      <a:r>
                        <a:rPr lang="en-IN" sz="900"/>
                        <a:t>User Exp.</a:t>
                      </a:r>
                    </a:p>
                  </a:txBody>
                  <a:tcPr marL="45712" marR="45712" marT="22856" marB="228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900" dirty="0"/>
                        <a:t>⭐ Enhanced</a:t>
                      </a:r>
                    </a:p>
                  </a:txBody>
                  <a:tcPr marL="45712" marR="45712" marT="22856" marB="228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900" dirty="0"/>
                        <a:t>📉 Basic</a:t>
                      </a:r>
                    </a:p>
                  </a:txBody>
                  <a:tcPr marL="45712" marR="45712" marT="22856" marB="228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⚖️ Average</a:t>
                      </a:r>
                    </a:p>
                  </a:txBody>
                  <a:tcPr marL="45712" marR="45712" marT="22856" marB="228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57351813"/>
                  </a:ext>
                </a:extLst>
              </a:tr>
              <a:tr h="258642">
                <a:tc>
                  <a:txBody>
                    <a:bodyPr/>
                    <a:lstStyle/>
                    <a:p>
                      <a:r>
                        <a:rPr lang="en-IN" sz="900"/>
                        <a:t>Cost</a:t>
                      </a:r>
                    </a:p>
                  </a:txBody>
                  <a:tcPr marL="45712" marR="45712" marT="22856" marB="228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💲 Competitive</a:t>
                      </a:r>
                    </a:p>
                  </a:txBody>
                  <a:tcPr marL="45712" marR="45712" marT="22856" marB="228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900" dirty="0"/>
                        <a:t>💰 High</a:t>
                      </a:r>
                    </a:p>
                  </a:txBody>
                  <a:tcPr marL="45712" marR="45712" marT="22856" marB="228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💵 Medium</a:t>
                      </a:r>
                    </a:p>
                  </a:txBody>
                  <a:tcPr marL="45712" marR="45712" marT="22856" marB="228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53274904"/>
                  </a:ext>
                </a:extLst>
              </a:tr>
              <a:tr h="258642">
                <a:tc>
                  <a:txBody>
                    <a:bodyPr/>
                    <a:lstStyle/>
                    <a:p>
                      <a:r>
                        <a:rPr lang="en-IN" sz="900"/>
                        <a:t>Customization</a:t>
                      </a:r>
                    </a:p>
                  </a:txBody>
                  <a:tcPr marL="45712" marR="45712" marT="22856" marB="228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✅ Yes</a:t>
                      </a:r>
                    </a:p>
                  </a:txBody>
                  <a:tcPr marL="45712" marR="45712" marT="22856" marB="228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900" dirty="0"/>
                        <a:t>❌ No</a:t>
                      </a:r>
                    </a:p>
                  </a:txBody>
                  <a:tcPr marL="45712" marR="45712" marT="22856" marB="228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900" dirty="0"/>
                        <a:t>⚠️ Limited</a:t>
                      </a:r>
                    </a:p>
                  </a:txBody>
                  <a:tcPr marL="45712" marR="45712" marT="22856" marB="228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40002520"/>
                  </a:ext>
                </a:extLst>
              </a:tr>
              <a:tr h="258642">
                <a:tc>
                  <a:txBody>
                    <a:bodyPr/>
                    <a:lstStyle/>
                    <a:p>
                      <a:r>
                        <a:rPr lang="en-IN" sz="900" dirty="0"/>
                        <a:t>Integration</a:t>
                      </a:r>
                    </a:p>
                  </a:txBody>
                  <a:tcPr marL="45712" marR="45712" marT="22856" marB="228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🔗 Seamless</a:t>
                      </a:r>
                    </a:p>
                  </a:txBody>
                  <a:tcPr marL="45712" marR="45712" marT="22856" marB="228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900" dirty="0"/>
                        <a:t>❌ Complex</a:t>
                      </a:r>
                    </a:p>
                  </a:txBody>
                  <a:tcPr marL="45712" marR="45712" marT="22856" marB="228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900" dirty="0"/>
                        <a:t>⚠️ Moderate</a:t>
                      </a:r>
                    </a:p>
                  </a:txBody>
                  <a:tcPr marL="45712" marR="45712" marT="22856" marB="228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27304183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CC63BBDA-72F9-4F66-AD8E-FF7B988AE26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43" t="2794" r="5555" b="11111"/>
          <a:stretch/>
        </p:blipFill>
        <p:spPr>
          <a:xfrm>
            <a:off x="6600056" y="4027240"/>
            <a:ext cx="5184576" cy="28028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9CC0794-68F0-4424-8EE4-29EC081D25EC}"/>
              </a:ext>
            </a:extLst>
          </p:cNvPr>
          <p:cNvSpPr txBox="1"/>
          <p:nvPr/>
        </p:nvSpPr>
        <p:spPr>
          <a:xfrm>
            <a:off x="2819400" y="553329"/>
            <a:ext cx="5715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C7D3E3-05A4-47DF-8F0F-D9D0BED68009}"/>
              </a:ext>
            </a:extLst>
          </p:cNvPr>
          <p:cNvSpPr txBox="1"/>
          <p:nvPr/>
        </p:nvSpPr>
        <p:spPr>
          <a:xfrm>
            <a:off x="357351" y="3703731"/>
            <a:ext cx="42908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Comparing with Existing Solutions</a:t>
            </a:r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B55973-9949-E38F-178C-0BC60E99763C}"/>
              </a:ext>
            </a:extLst>
          </p:cNvPr>
          <p:cNvSpPr txBox="1"/>
          <p:nvPr/>
        </p:nvSpPr>
        <p:spPr>
          <a:xfrm>
            <a:off x="357351" y="1750493"/>
            <a:ext cx="1157129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warehousing enabled fast retrieval and querying, improving the performance of analytics compared to traditional storage.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remains competitive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the system suitable for practical deployment, while solutions offering lower features are comparatively more expensive.</a:t>
            </a:r>
            <a:endParaRPr lang="en-US" sz="200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solution demonstrates a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superior balance of accuracy, usability, real-time features, visualization, and scalability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it more suitable for real-time stock market forecasting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79308832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36997C3-6189-4A55-9FC5-52BC96D2F0CB}"/>
              </a:ext>
            </a:extLst>
          </p:cNvPr>
          <p:cNvSpPr txBox="1"/>
          <p:nvPr/>
        </p:nvSpPr>
        <p:spPr>
          <a:xfrm>
            <a:off x="609600" y="1752600"/>
            <a:ext cx="10668000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Issues Faced</a:t>
            </a:r>
          </a:p>
          <a:p>
            <a:endParaRPr 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.Data Quality Issues: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Inconsistent, missing, or erroneous data.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2.Model Training Challenges: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training models due to limited data or complex market behaviors.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3.System Integration Issues: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in integrating the system with existing infrastructure.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4.User Adoption: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Resistance from users to adopt new technology.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5.Scalability Issues: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scaling the system to handle increased traffic.</a:t>
            </a:r>
          </a:p>
          <a:p>
            <a:pPr marL="342900" indent="-342900"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</a:p>
          <a:p>
            <a:endParaRPr 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Constraints: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time to develop and deploy the system.</a:t>
            </a:r>
          </a:p>
          <a:p>
            <a:pPr marL="342900" indent="-342900"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 Constraints: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budget for development, testing, and deployment.</a:t>
            </a:r>
          </a:p>
          <a:p>
            <a:pPr marL="342900" indent="-342900"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Constraints: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access to high-quality data.</a:t>
            </a:r>
          </a:p>
          <a:p>
            <a:pPr marL="342900" indent="-342900"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Constraints: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technical expertise or resources.</a:t>
            </a:r>
          </a:p>
          <a:p>
            <a:pPr marL="342900" indent="-342900"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Regulatory Constraints: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Compliance with regulatory requirements and laws.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D15F49-5FCB-4519-84F4-B3F24A2BDAEB}"/>
              </a:ext>
            </a:extLst>
          </p:cNvPr>
          <p:cNvSpPr txBox="1"/>
          <p:nvPr/>
        </p:nvSpPr>
        <p:spPr>
          <a:xfrm>
            <a:off x="2667000" y="381000"/>
            <a:ext cx="6781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and Limitations</a:t>
            </a:r>
          </a:p>
        </p:txBody>
      </p:sp>
    </p:spTree>
    <p:extLst>
      <p:ext uri="{BB962C8B-B14F-4D97-AF65-F5344CB8AC3E}">
        <p14:creationId xmlns:p14="http://schemas.microsoft.com/office/powerpoint/2010/main" val="1783476767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6DCD8D-12B2-4CC4-987A-20A485BA65FE}"/>
              </a:ext>
            </a:extLst>
          </p:cNvPr>
          <p:cNvSpPr txBox="1"/>
          <p:nvPr/>
        </p:nvSpPr>
        <p:spPr>
          <a:xfrm rot="10800000" flipH="1" flipV="1">
            <a:off x="3934510" y="478370"/>
            <a:ext cx="410611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CE8C68-8AE3-4254-A423-5DF40D2B2944}"/>
              </a:ext>
            </a:extLst>
          </p:cNvPr>
          <p:cNvSpPr txBox="1"/>
          <p:nvPr/>
        </p:nvSpPr>
        <p:spPr>
          <a:xfrm>
            <a:off x="362599" y="2276872"/>
            <a:ext cx="1155488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advanced AI models such as Transformers and Hybrid Deep Learning for improved prediction accuracy.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Expanding the system to include multiple stock exchanges and global market analytics.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Providing personalized investment recommendations based on user risk levels and historical trading patterns.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Establishing data warehouse automation pipelines to reduce manual data preprocessing tasks.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personalized forecasting dashboards that display price movement patterns for individual investors.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6652309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96E84AC-11AE-4F00-924E-C8AD002000BB}"/>
              </a:ext>
            </a:extLst>
          </p:cNvPr>
          <p:cNvSpPr txBox="1"/>
          <p:nvPr/>
        </p:nvSpPr>
        <p:spPr>
          <a:xfrm>
            <a:off x="4648200" y="478370"/>
            <a:ext cx="6400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2E2BBB-BCAC-F913-67CC-A541685648B3}"/>
              </a:ext>
            </a:extLst>
          </p:cNvPr>
          <p:cNvSpPr txBox="1"/>
          <p:nvPr/>
        </p:nvSpPr>
        <p:spPr>
          <a:xfrm>
            <a:off x="515380" y="1725984"/>
            <a:ext cx="11161240" cy="4653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successfully integrates real-time stock data with efficient data warehousing, enabling fast and accurate analytical processing.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models applied on historical market data provide reliable stock price forecasts with improved accuracy.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optimization and structured warehousing significantly reduce data retrieval time and improve system performance.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approach demonstrates scalability and real-time capability, making it suitable for practical stock trading environments.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system proves to be a valuable analytical tool for investors, traders, and financial researchers by combining real-time monitoring with intelligent predictive insights.</a:t>
            </a:r>
          </a:p>
        </p:txBody>
      </p:sp>
    </p:spTree>
    <p:extLst>
      <p:ext uri="{BB962C8B-B14F-4D97-AF65-F5344CB8AC3E}">
        <p14:creationId xmlns:p14="http://schemas.microsoft.com/office/powerpoint/2010/main" val="196518736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20833B6-884F-4480-A54A-2F025B5B6360}"/>
              </a:ext>
            </a:extLst>
          </p:cNvPr>
          <p:cNvSpPr txBox="1"/>
          <p:nvPr/>
        </p:nvSpPr>
        <p:spPr>
          <a:xfrm>
            <a:off x="533400" y="1991378"/>
            <a:ext cx="10820400" cy="3782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Kumar, S., &amp; Ravi, V. (2020). A Comparative Study of Machine Learning Algorithms for Stock Market Prediction. Journal of Intelligent Information Systems, 56(2), 257-273.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Lee, J., &amp; Kim, J. (2019). Stock Market Forecasting Using Technical Analysis and Machine Learning. Journal of Economic and Financial Studies, 3(1), 1-12.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Zhang, Y., &amp; Liu, X. (2018). Data Visualization for Stock Market Analysis. Journal of Visualization, 21(3), 437-448.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Box, G. E. P., Jenkins, G. M., &amp; Reinsel, G. C. (2015). Time Series Analysis: Forecasting and Control. Wiley.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Chen, K., &amp; Zhou, Y. (2018). Stock Market Prediction Using LSTM Networks. Journal of Machine Learning Research, 19(1), 1-20.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75FA0D-DD4D-4B5D-8FE9-66B558799983}"/>
              </a:ext>
            </a:extLst>
          </p:cNvPr>
          <p:cNvSpPr txBox="1"/>
          <p:nvPr/>
        </p:nvSpPr>
        <p:spPr>
          <a:xfrm>
            <a:off x="3930168" y="765099"/>
            <a:ext cx="411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8015716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pic>
        <p:nvPicPr>
          <p:cNvPr id="1026" name="Picture 2" descr="Thank You Royalty-Free Images, Stock Photos &amp; Pictures ...">
            <a:extLst>
              <a:ext uri="{FF2B5EF4-FFF2-40B4-BE49-F238E27FC236}">
                <a16:creationId xmlns:a16="http://schemas.microsoft.com/office/drawing/2014/main" id="{3D4DD6B7-490F-41D6-8240-611DE65476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0" t="217" r="210" b="21057"/>
          <a:stretch/>
        </p:blipFill>
        <p:spPr bwMode="auto">
          <a:xfrm>
            <a:off x="-62662" y="1714488"/>
            <a:ext cx="12254662" cy="5068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3720843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1219</TotalTime>
  <Words>1117</Words>
  <Application>Microsoft Office PowerPoint</Application>
  <PresentationFormat>Widescreen</PresentationFormat>
  <Paragraphs>137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Times New Roman</vt:lpstr>
      <vt:lpstr>ui-sans-serif</vt:lpstr>
      <vt:lpstr>Wingdings</vt:lpstr>
      <vt:lpstr>Office Theme</vt:lpstr>
      <vt:lpstr>Real-time Stock Market Analytics Through Efficient Data Warehousing and Predictive Models</vt:lpstr>
      <vt:lpstr>PowerPoint Presentation</vt:lpstr>
      <vt:lpstr>PowerPoint Presentation</vt:lpstr>
      <vt:lpstr>PowerPoint Presentation</vt:lpstr>
      <vt:lpstr>Module 1: Real-Time Stock Data Warehousing</vt:lpstr>
      <vt:lpstr>Module 2: Stock Trend Prediction and Analytics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Title</dc:title>
  <dc:creator>sankar</dc:creator>
  <cp:lastModifiedBy>Daggupati Deepak</cp:lastModifiedBy>
  <cp:revision>31</cp:revision>
  <dcterms:created xsi:type="dcterms:W3CDTF">2025-02-28T05:15:08Z</dcterms:created>
  <dcterms:modified xsi:type="dcterms:W3CDTF">2026-08-26T15:16:26Z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2025-02-24T00:00:00Z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2025-02-28T00:00:00Z</vt:filetime>
  </property>
  <property fmtid="{D5CDD505-2E9C-101B-9397-08002B2CF9AE}" pid="5" name="Producer">
    <vt:lpwstr>Microsoft® PowerPoint® 2019</vt:lpwstr>
  </property>
</Properties>
</file>